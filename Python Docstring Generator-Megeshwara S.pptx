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Poppins" panose="00000500000000000000" pitchFamily="2" charset="0"/>
      <p:regular r:id="rId15"/>
    </p:embeddedFont>
    <p:embeddedFont>
      <p:font typeface="Poppins Bold" panose="020B0604020202020204" charset="0"/>
      <p:regular r:id="rId16"/>
    </p:embeddedFont>
    <p:embeddedFont>
      <p:font typeface="Poppins Light" panose="00000400000000000000" pitchFamily="2" charset="0"/>
      <p:regular r:id="rId17"/>
    </p:embeddedFont>
    <p:embeddedFont>
      <p:font typeface="Poppins Medium" panose="000006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egesh07-python-docstring-generator.streamlit.app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megesh07-python-docstring-generator.streamlit.app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Megesh07/Megesh07-Python-Docstring-Generator" TargetMode="External"/><Relationship Id="rId4" Type="http://schemas.openxmlformats.org/officeDocument/2006/relationships/hyperlink" Target="https://megesh07-python-docstring-generator.streamlit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85376" y="3142263"/>
            <a:ext cx="10317247" cy="2609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7"/>
              </a:lnSpc>
            </a:pPr>
            <a:r>
              <a:rPr lang="en-US" sz="729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DOCSTRING GENERATOR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155132" y="5913479"/>
            <a:ext cx="9977737" cy="47625"/>
            <a:chOff x="0" y="0"/>
            <a:chExt cx="2627881" cy="125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27881" cy="12543"/>
            </a:xfrm>
            <a:custGeom>
              <a:avLst/>
              <a:gdLst/>
              <a:ahLst/>
              <a:cxnLst/>
              <a:rect l="l" t="t" r="r" b="b"/>
              <a:pathLst>
                <a:path w="2627881" h="12543">
                  <a:moveTo>
                    <a:pt x="0" y="0"/>
                  </a:moveTo>
                  <a:lnTo>
                    <a:pt x="2627881" y="0"/>
                  </a:lnTo>
                  <a:lnTo>
                    <a:pt x="262788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627881" cy="69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69019" y="6046916"/>
            <a:ext cx="6549961" cy="8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spc="62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AUTOMATED DOCUMENTATION WITH QUALITY VALIDATION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0636" y="7611427"/>
            <a:ext cx="4850812" cy="130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8"/>
              </a:lnSpc>
            </a:pPr>
            <a:r>
              <a:rPr lang="en-US" sz="24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By: Megeshwara S</a:t>
            </a:r>
          </a:p>
          <a:p>
            <a:pPr algn="l">
              <a:lnSpc>
                <a:spcPts val="3468"/>
              </a:lnSpc>
            </a:pPr>
            <a:r>
              <a:rPr lang="en-US" sz="24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Date: February 2026</a:t>
            </a:r>
          </a:p>
          <a:p>
            <a:pPr algn="l">
              <a:lnSpc>
                <a:spcPts val="3468"/>
              </a:lnSpc>
            </a:pPr>
            <a:r>
              <a:rPr lang="en-US" sz="247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Live Demo: </a:t>
            </a:r>
            <a:r>
              <a:rPr lang="en-US" sz="2477" u="sng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  <a:hlinkClick r:id="rId2" tooltip="https://megesh07-python-docstring-generator.streamlit.app"/>
              </a:rPr>
              <a:t>Click here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04932" y="1456973"/>
            <a:ext cx="10478136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INFOSYS SPRINGBOARD 6.0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66775"/>
            <a:ext cx="4648252" cy="200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95945" y="3120322"/>
            <a:ext cx="14896110" cy="5881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4"/>
              </a:lnSpc>
              <a:spcBef>
                <a:spcPct val="0"/>
              </a:spcBef>
            </a:pPr>
            <a:r>
              <a:rPr lang="en-US" sz="30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Points:</a:t>
            </a:r>
          </a:p>
          <a:p>
            <a:pPr marL="648442" lvl="1" indent="-324221" algn="l">
              <a:lnSpc>
                <a:spcPts val="4204"/>
              </a:lnSpc>
              <a:buFont typeface="Arial"/>
              <a:buChar char="•"/>
            </a:pP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Problem: Manual docstring writing is time-consuming and inconsistent</a:t>
            </a:r>
          </a:p>
          <a:p>
            <a:pPr marL="648442" lvl="1" indent="-324221" algn="l">
              <a:lnSpc>
                <a:spcPts val="4204"/>
              </a:lnSpc>
              <a:buFont typeface="Arial"/>
              <a:buChar char="•"/>
            </a:pP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Solution: Automated docstring generator with built-in quality validation</a:t>
            </a:r>
          </a:p>
          <a:p>
            <a:pPr marL="648442" lvl="1" indent="-324221" algn="l">
              <a:lnSpc>
                <a:spcPts val="4204"/>
              </a:lnSpc>
              <a:buFont typeface="Arial"/>
              <a:buChar char="•"/>
            </a:pP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Scope: Template-based tool supporting multiple documentation styles</a:t>
            </a:r>
          </a:p>
          <a:p>
            <a:pPr marL="648442" lvl="1" indent="-324221" algn="l">
              <a:lnSpc>
                <a:spcPts val="4204"/>
              </a:lnSpc>
              <a:buFont typeface="Arial"/>
              <a:buChar char="•"/>
            </a:pP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Deployment: Live web application accessible worldwide</a:t>
            </a:r>
          </a:p>
          <a:p>
            <a:pPr algn="l">
              <a:lnSpc>
                <a:spcPts val="4204"/>
              </a:lnSpc>
              <a:spcBef>
                <a:spcPct val="0"/>
              </a:spcBef>
            </a:pPr>
            <a:endParaRPr lang="en-US" sz="3003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04"/>
              </a:lnSpc>
              <a:spcBef>
                <a:spcPct val="0"/>
              </a:spcBef>
            </a:pPr>
            <a:r>
              <a:rPr lang="en-US" sz="3003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Features:</a:t>
            </a:r>
          </a:p>
          <a:p>
            <a:pPr marL="648442" lvl="1" indent="-324221" algn="l">
              <a:lnSpc>
                <a:spcPts val="4204"/>
              </a:lnSpc>
              <a:buFont typeface="Arial"/>
              <a:buChar char="•"/>
            </a:pP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Multi-style generation (Google, NumPy, reST)</a:t>
            </a:r>
          </a:p>
          <a:p>
            <a:pPr marL="648442" lvl="1" indent="-324221" algn="l">
              <a:lnSpc>
                <a:spcPts val="4204"/>
              </a:lnSpc>
              <a:buFont typeface="Arial"/>
              <a:buChar char="•"/>
            </a:pP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Quality validation (0-100 scoring)</a:t>
            </a:r>
          </a:p>
          <a:p>
            <a:pPr marL="648442" lvl="1" indent="-324221" algn="l">
              <a:lnSpc>
                <a:spcPts val="4204"/>
              </a:lnSpc>
              <a:buFont typeface="Arial"/>
              <a:buChar char="•"/>
            </a:pP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Error detection</a:t>
            </a:r>
          </a:p>
          <a:p>
            <a:pPr marL="648442" lvl="1" indent="-324221" algn="l">
              <a:lnSpc>
                <a:spcPts val="4204"/>
              </a:lnSpc>
              <a:buFont typeface="Arial"/>
              <a:buChar char="•"/>
            </a:pPr>
            <a:r>
              <a:rPr lang="en-US" sz="30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Offline capability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35054" y="2545802"/>
            <a:ext cx="3086100" cy="85998"/>
            <a:chOff x="0" y="0"/>
            <a:chExt cx="812800" cy="22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164105" y="3259253"/>
            <a:ext cx="11959789" cy="5999047"/>
          </a:xfrm>
          <a:custGeom>
            <a:avLst/>
            <a:gdLst/>
            <a:ahLst/>
            <a:cxnLst/>
            <a:rect l="l" t="t" r="r" b="b"/>
            <a:pathLst>
              <a:path w="11959789" h="5999047">
                <a:moveTo>
                  <a:pt x="0" y="0"/>
                </a:moveTo>
                <a:lnTo>
                  <a:pt x="11959790" y="0"/>
                </a:lnTo>
                <a:lnTo>
                  <a:pt x="11959790" y="5999047"/>
                </a:lnTo>
                <a:lnTo>
                  <a:pt x="0" y="5999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14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66775"/>
            <a:ext cx="4648252" cy="200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77060"/>
            <a:ext cx="3086100" cy="85998"/>
            <a:chOff x="0" y="0"/>
            <a:chExt cx="812800" cy="226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2650"/>
            </a:xfrm>
            <a:custGeom>
              <a:avLst/>
              <a:gdLst/>
              <a:ahLst/>
              <a:cxnLst/>
              <a:rect l="l" t="t" r="r" b="b"/>
              <a:pathLst>
                <a:path w="812800" h="22650">
                  <a:moveTo>
                    <a:pt x="0" y="0"/>
                  </a:moveTo>
                  <a:lnTo>
                    <a:pt x="812800" y="0"/>
                  </a:lnTo>
                  <a:lnTo>
                    <a:pt x="812800" y="22650"/>
                  </a:lnTo>
                  <a:lnTo>
                    <a:pt x="0" y="22650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12800" cy="60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36321" y="2678213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66775"/>
            <a:ext cx="10169737" cy="101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70897" y="2283052"/>
            <a:ext cx="9455151" cy="7071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sz="28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User Interface Layer</a:t>
            </a:r>
          </a:p>
          <a:p>
            <a:pPr marL="617711" lvl="1" indent="-308856" algn="l">
              <a:lnSpc>
                <a:spcPts val="4005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Streamlit web framework</a:t>
            </a:r>
          </a:p>
          <a:p>
            <a:pPr marL="617711" lvl="1" indent="-308856" algn="l">
              <a:lnSpc>
                <a:spcPts val="4005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3-step workflow (Upload → Review → Download)</a:t>
            </a:r>
          </a:p>
          <a:p>
            <a:pPr algn="l">
              <a:lnSpc>
                <a:spcPts val="4005"/>
              </a:lnSpc>
            </a:pPr>
            <a:endParaRPr lang="en-US" sz="28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sz="28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Core Processing Modules (5)</a:t>
            </a:r>
          </a:p>
          <a:p>
            <a:pPr marL="617711" lvl="1" indent="-308856" algn="l">
              <a:lnSpc>
                <a:spcPts val="4005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Parser - AST-based code analysis</a:t>
            </a:r>
          </a:p>
          <a:p>
            <a:pPr marL="617711" lvl="1" indent="-308856" algn="l">
              <a:lnSpc>
                <a:spcPts val="4005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Generator - Multi-style docstring creation</a:t>
            </a:r>
          </a:p>
          <a:p>
            <a:pPr marL="617711" lvl="1" indent="-308856" algn="l">
              <a:lnSpc>
                <a:spcPts val="4005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Validator - Quality assurance (NEW)</a:t>
            </a:r>
          </a:p>
          <a:p>
            <a:pPr marL="617711" lvl="1" indent="-308856" algn="l">
              <a:lnSpc>
                <a:spcPts val="4005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Error Detector - Code issue identification</a:t>
            </a:r>
          </a:p>
          <a:p>
            <a:pPr marL="617711" lvl="1" indent="-308856" algn="l">
              <a:lnSpc>
                <a:spcPts val="4005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Comment Generator - Inline comments</a:t>
            </a:r>
          </a:p>
          <a:p>
            <a:pPr algn="l">
              <a:lnSpc>
                <a:spcPts val="4005"/>
              </a:lnSpc>
              <a:spcBef>
                <a:spcPct val="0"/>
              </a:spcBef>
            </a:pPr>
            <a:endParaRPr lang="en-US" sz="286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005"/>
              </a:lnSpc>
              <a:spcBef>
                <a:spcPct val="0"/>
              </a:spcBef>
            </a:pPr>
            <a:r>
              <a:rPr lang="en-US" sz="2861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Output Assembly</a:t>
            </a:r>
          </a:p>
          <a:p>
            <a:pPr marL="617711" lvl="1" indent="-308856" algn="l">
              <a:lnSpc>
                <a:spcPts val="4005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Inserter - Combines all components</a:t>
            </a:r>
          </a:p>
          <a:p>
            <a:pPr marL="617711" lvl="1" indent="-308856" algn="l">
              <a:lnSpc>
                <a:spcPts val="4005"/>
              </a:lnSpc>
              <a:buFont typeface="Arial"/>
              <a:buChar char="•"/>
            </a:pPr>
            <a:r>
              <a:rPr lang="en-US" sz="286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Enhanced File - Final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37881" y="8089992"/>
            <a:ext cx="8725540" cy="1655854"/>
            <a:chOff x="0" y="0"/>
            <a:chExt cx="11634053" cy="2207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0569" cy="2207806"/>
            </a:xfrm>
            <a:custGeom>
              <a:avLst/>
              <a:gdLst/>
              <a:ahLst/>
              <a:cxnLst/>
              <a:rect l="l" t="t" r="r" b="b"/>
              <a:pathLst>
                <a:path w="2210569" h="2207806">
                  <a:moveTo>
                    <a:pt x="0" y="0"/>
                  </a:moveTo>
                  <a:lnTo>
                    <a:pt x="2210569" y="0"/>
                  </a:lnTo>
                  <a:lnTo>
                    <a:pt x="2210569" y="2207806"/>
                  </a:lnTo>
                  <a:lnTo>
                    <a:pt x="0" y="2207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3189519" y="0"/>
              <a:ext cx="4060332" cy="2207806"/>
            </a:xfrm>
            <a:custGeom>
              <a:avLst/>
              <a:gdLst/>
              <a:ahLst/>
              <a:cxnLst/>
              <a:rect l="l" t="t" r="r" b="b"/>
              <a:pathLst>
                <a:path w="4060332" h="2207806">
                  <a:moveTo>
                    <a:pt x="0" y="0"/>
                  </a:moveTo>
                  <a:lnTo>
                    <a:pt x="4060333" y="0"/>
                  </a:lnTo>
                  <a:lnTo>
                    <a:pt x="4060333" y="2207806"/>
                  </a:lnTo>
                  <a:lnTo>
                    <a:pt x="0" y="2207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7709065" y="0"/>
              <a:ext cx="3924988" cy="2207806"/>
            </a:xfrm>
            <a:custGeom>
              <a:avLst/>
              <a:gdLst/>
              <a:ahLst/>
              <a:cxnLst/>
              <a:rect l="l" t="t" r="r" b="b"/>
              <a:pathLst>
                <a:path w="3924988" h="2207806">
                  <a:moveTo>
                    <a:pt x="0" y="0"/>
                  </a:moveTo>
                  <a:lnTo>
                    <a:pt x="3924988" y="0"/>
                  </a:lnTo>
                  <a:lnTo>
                    <a:pt x="3924988" y="2207806"/>
                  </a:lnTo>
                  <a:lnTo>
                    <a:pt x="0" y="2207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866775"/>
            <a:ext cx="5982611" cy="2000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1234" y="3246120"/>
            <a:ext cx="7758649" cy="404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  <a:spcBef>
                <a:spcPct val="0"/>
              </a:spcBef>
            </a:pPr>
            <a:r>
              <a:rPr lang="en-US" sz="228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Core Technologies: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Python 3.8+ - Primary programming language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Streamlit 1.28+ - Web UI framework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AST (Abstract Syntax Tree) - Code parsing engine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Git/GitHub - Version control</a:t>
            </a:r>
          </a:p>
          <a:p>
            <a:pPr algn="l">
              <a:lnSpc>
                <a:spcPts val="3192"/>
              </a:lnSpc>
              <a:spcBef>
                <a:spcPct val="0"/>
              </a:spcBef>
            </a:pPr>
            <a:endParaRPr lang="en-US" sz="228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192"/>
              </a:lnSpc>
              <a:spcBef>
                <a:spcPct val="0"/>
              </a:spcBef>
            </a:pPr>
            <a:r>
              <a:rPr lang="en-US" sz="228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Libraries: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ast - Python code parsing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dataclasses - Data structures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Standard library only (no external dependencies)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0651" y="3246120"/>
            <a:ext cx="7758649" cy="404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  <a:spcBef>
                <a:spcPct val="0"/>
              </a:spcBef>
            </a:pPr>
            <a:r>
              <a:rPr lang="en-US" sz="228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Deployment: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Platform: Streamlit Community Cloud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Hosting: Free cloud hosting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CI/CD: Auto-deploy on git push</a:t>
            </a:r>
          </a:p>
          <a:p>
            <a:pPr algn="l">
              <a:lnSpc>
                <a:spcPts val="3192"/>
              </a:lnSpc>
              <a:spcBef>
                <a:spcPct val="0"/>
              </a:spcBef>
            </a:pPr>
            <a:endParaRPr lang="en-US" sz="228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192"/>
              </a:lnSpc>
              <a:spcBef>
                <a:spcPct val="0"/>
              </a:spcBef>
            </a:pPr>
            <a:r>
              <a:rPr lang="en-US" sz="228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Why These Technologies: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Fast and lightweight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API dependencies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Works offline</a:t>
            </a:r>
          </a:p>
          <a:p>
            <a:pPr marL="492293" lvl="1" indent="-246147" algn="l">
              <a:lnSpc>
                <a:spcPts val="3192"/>
              </a:lnSpc>
              <a:buFont typeface="Arial"/>
              <a:buChar char="•"/>
            </a:pPr>
            <a:r>
              <a:rPr lang="en-US" sz="22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Free to deploy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00540" y="1672822"/>
            <a:ext cx="10319691" cy="8083986"/>
          </a:xfrm>
          <a:custGeom>
            <a:avLst/>
            <a:gdLst/>
            <a:ahLst/>
            <a:cxnLst/>
            <a:rect l="l" t="t" r="r" b="b"/>
            <a:pathLst>
              <a:path w="10319691" h="8083986">
                <a:moveTo>
                  <a:pt x="0" y="0"/>
                </a:moveTo>
                <a:lnTo>
                  <a:pt x="10319692" y="0"/>
                </a:lnTo>
                <a:lnTo>
                  <a:pt x="10319692" y="8083986"/>
                </a:lnTo>
                <a:lnTo>
                  <a:pt x="0" y="808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866775"/>
            <a:ext cx="5892626" cy="101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1681" y="1977390"/>
            <a:ext cx="7255249" cy="7779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Analysis Phase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Studied PEP 257 documentation standards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Analyzed existing docstring formats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Identified user workflow requirements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endParaRPr lang="en-US" sz="183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Design Phase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Modular architecture design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Template-based generation strategy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Validation algorithm design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endParaRPr lang="en-US" sz="183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Implementation Phase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Developed 8 core modules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Integrated validation system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Streamlit UI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endParaRPr lang="en-US" sz="183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4. Testing Phase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Unit testing all modules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Integration testing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Live deployment testing</a:t>
            </a:r>
          </a:p>
          <a:p>
            <a:pPr algn="l">
              <a:lnSpc>
                <a:spcPts val="2565"/>
              </a:lnSpc>
              <a:spcBef>
                <a:spcPct val="0"/>
              </a:spcBef>
            </a:pPr>
            <a:endParaRPr lang="en-US" sz="183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5. Deployment Phase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GitHub repository setup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Streamlit Cloud deployment</a:t>
            </a:r>
          </a:p>
          <a:p>
            <a:pPr marL="395565" lvl="1" indent="-197782" algn="l">
              <a:lnSpc>
                <a:spcPts val="2565"/>
              </a:lnSpc>
              <a:buFont typeface="Arial"/>
              <a:buChar char="•"/>
            </a:pPr>
            <a:r>
              <a:rPr lang="en-US" sz="18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Documentation completion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23417" y="2501543"/>
            <a:ext cx="8835883" cy="5853773"/>
          </a:xfrm>
          <a:custGeom>
            <a:avLst/>
            <a:gdLst/>
            <a:ahLst/>
            <a:cxnLst/>
            <a:rect l="l" t="t" r="r" b="b"/>
            <a:pathLst>
              <a:path w="8835883" h="5853773">
                <a:moveTo>
                  <a:pt x="0" y="0"/>
                </a:moveTo>
                <a:lnTo>
                  <a:pt x="8835883" y="0"/>
                </a:lnTo>
                <a:lnTo>
                  <a:pt x="8835883" y="5853772"/>
                </a:lnTo>
                <a:lnTo>
                  <a:pt x="0" y="5853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04875"/>
            <a:ext cx="13906363" cy="159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1"/>
              </a:lnSpc>
            </a:pPr>
            <a:r>
              <a:rPr lang="en-US" sz="44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IMPLEMENTATION DETAILS - CORE MODULES</a:t>
            </a:r>
          </a:p>
          <a:p>
            <a:pPr algn="l">
              <a:lnSpc>
                <a:spcPts val="6271"/>
              </a:lnSpc>
            </a:pPr>
            <a:endParaRPr lang="en-US" sz="447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88954" y="1788341"/>
            <a:ext cx="6310818" cy="7469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  <a:spcBef>
                <a:spcPct val="0"/>
              </a:spcBef>
            </a:pPr>
            <a:r>
              <a:rPr lang="en-US" sz="211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1: Parser (parser.py)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Python AST for code analysis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Extracts function/class metadata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Identifies existing docstrings</a:t>
            </a:r>
          </a:p>
          <a:p>
            <a:pPr algn="l">
              <a:lnSpc>
                <a:spcPts val="2956"/>
              </a:lnSpc>
            </a:pPr>
            <a:endParaRPr lang="en-US" sz="211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56"/>
              </a:lnSpc>
            </a:pPr>
            <a:r>
              <a:rPr lang="en-US" sz="211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2: Generator (generator.py)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Template-based generation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Supports 3 styles: Google, NumPy, reST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Handles parameters, returns, defaults</a:t>
            </a:r>
          </a:p>
          <a:p>
            <a:pPr algn="l">
              <a:lnSpc>
                <a:spcPts val="2956"/>
              </a:lnSpc>
            </a:pPr>
            <a:endParaRPr lang="en-US" sz="211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56"/>
              </a:lnSpc>
            </a:pPr>
            <a:r>
              <a:rPr lang="en-US" sz="211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3: Validator (validator.py) 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PEP 257 compliance checking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Format validation</a:t>
            </a:r>
          </a:p>
          <a:p>
            <a:pPr marL="455993" lvl="1" indent="-227997" algn="l">
              <a:lnSpc>
                <a:spcPts val="2956"/>
              </a:lnSpc>
              <a:spcBef>
                <a:spcPct val="0"/>
              </a:spcBef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Completeness verification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Quality scoring (0-100)</a:t>
            </a:r>
          </a:p>
          <a:p>
            <a:pPr algn="l">
              <a:lnSpc>
                <a:spcPts val="2956"/>
              </a:lnSpc>
            </a:pPr>
            <a:endParaRPr lang="en-US" sz="211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2956"/>
              </a:lnSpc>
              <a:spcBef>
                <a:spcPct val="0"/>
              </a:spcBef>
            </a:pPr>
            <a:r>
              <a:rPr lang="en-US" sz="211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Module 4: Error Detector (error_detector.py)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Syntax error detection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Unused import detection</a:t>
            </a:r>
          </a:p>
          <a:p>
            <a:pPr marL="455993" lvl="1" indent="-227997" algn="l">
              <a:lnSpc>
                <a:spcPts val="2956"/>
              </a:lnSpc>
              <a:buFont typeface="Arial"/>
              <a:buChar char="•"/>
            </a:pPr>
            <a:r>
              <a:rPr lang="en-US" sz="21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Missing type hint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867262"/>
            <a:ext cx="2866248" cy="120678"/>
            <a:chOff x="0" y="0"/>
            <a:chExt cx="1462009" cy="615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2009" cy="61555"/>
            </a:xfrm>
            <a:custGeom>
              <a:avLst/>
              <a:gdLst/>
              <a:ahLst/>
              <a:cxnLst/>
              <a:rect l="l" t="t" r="r" b="b"/>
              <a:pathLst>
                <a:path w="1462009" h="61555">
                  <a:moveTo>
                    <a:pt x="0" y="0"/>
                  </a:moveTo>
                  <a:lnTo>
                    <a:pt x="1462009" y="0"/>
                  </a:lnTo>
                  <a:lnTo>
                    <a:pt x="1462009" y="61555"/>
                  </a:lnTo>
                  <a:lnTo>
                    <a:pt x="0" y="61555"/>
                  </a:lnTo>
                  <a:close/>
                </a:path>
              </a:pathLst>
            </a:custGeom>
            <a:solidFill>
              <a:srgbClr val="ACA18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62009" cy="99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631087" y="2121290"/>
            <a:ext cx="3500911" cy="3553164"/>
          </a:xfrm>
          <a:custGeom>
            <a:avLst/>
            <a:gdLst/>
            <a:ahLst/>
            <a:cxnLst/>
            <a:rect l="l" t="t" r="r" b="b"/>
            <a:pathLst>
              <a:path w="3500911" h="3553164">
                <a:moveTo>
                  <a:pt x="0" y="0"/>
                </a:moveTo>
                <a:lnTo>
                  <a:pt x="3500911" y="0"/>
                </a:lnTo>
                <a:lnTo>
                  <a:pt x="3500911" y="3553164"/>
                </a:lnTo>
                <a:lnTo>
                  <a:pt x="0" y="3553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439578" y="2121290"/>
            <a:ext cx="3265312" cy="3553164"/>
          </a:xfrm>
          <a:custGeom>
            <a:avLst/>
            <a:gdLst/>
            <a:ahLst/>
            <a:cxnLst/>
            <a:rect l="l" t="t" r="r" b="b"/>
            <a:pathLst>
              <a:path w="3265312" h="3553164">
                <a:moveTo>
                  <a:pt x="0" y="0"/>
                </a:moveTo>
                <a:lnTo>
                  <a:pt x="3265312" y="0"/>
                </a:lnTo>
                <a:lnTo>
                  <a:pt x="3265312" y="3553164"/>
                </a:lnTo>
                <a:lnTo>
                  <a:pt x="0" y="3553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082473" y="6037006"/>
            <a:ext cx="6622417" cy="3333734"/>
          </a:xfrm>
          <a:custGeom>
            <a:avLst/>
            <a:gdLst/>
            <a:ahLst/>
            <a:cxnLst/>
            <a:rect l="l" t="t" r="r" b="b"/>
            <a:pathLst>
              <a:path w="6622417" h="3333734">
                <a:moveTo>
                  <a:pt x="0" y="0"/>
                </a:moveTo>
                <a:lnTo>
                  <a:pt x="6622417" y="0"/>
                </a:lnTo>
                <a:lnTo>
                  <a:pt x="6622417" y="3333734"/>
                </a:lnTo>
                <a:lnTo>
                  <a:pt x="0" y="3333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895350"/>
            <a:ext cx="18247949" cy="842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IMPLEMENTATION DETAILS - VALIDATION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8771" y="2054615"/>
            <a:ext cx="6531622" cy="7316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0"/>
              </a:lnSpc>
              <a:spcBef>
                <a:spcPct val="0"/>
              </a:spcBef>
            </a:pPr>
            <a:r>
              <a:rPr lang="en-US" sz="21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1. PEP 257 Compliance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Summary line format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Proper punctuation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Blank line structure</a:t>
            </a:r>
          </a:p>
          <a:p>
            <a:pPr algn="l">
              <a:lnSpc>
                <a:spcPts val="3060"/>
              </a:lnSpc>
            </a:pPr>
            <a:endParaRPr lang="en-US" sz="218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60"/>
              </a:lnSpc>
            </a:pPr>
            <a:r>
              <a:rPr lang="en-US" sz="21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2. Format Compliance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Google: Args/Returns sections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NumPy: Dashed headers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reST: :param directives</a:t>
            </a:r>
          </a:p>
          <a:p>
            <a:pPr algn="l">
              <a:lnSpc>
                <a:spcPts val="3060"/>
              </a:lnSpc>
            </a:pPr>
            <a:endParaRPr lang="en-US" sz="218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60"/>
              </a:lnSpc>
            </a:pPr>
            <a:r>
              <a:rPr lang="en-US" sz="21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3. Completeness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parameters documented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Return types documented</a:t>
            </a:r>
          </a:p>
          <a:p>
            <a:pPr marL="471948" lvl="1" indent="-235974" algn="l">
              <a:lnSpc>
                <a:spcPts val="3060"/>
              </a:lnSpc>
              <a:spcBef>
                <a:spcPct val="0"/>
              </a:spcBef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missing information</a:t>
            </a:r>
          </a:p>
          <a:p>
            <a:pPr algn="l">
              <a:lnSpc>
                <a:spcPts val="3060"/>
              </a:lnSpc>
              <a:spcBef>
                <a:spcPct val="0"/>
              </a:spcBef>
            </a:pPr>
            <a:endParaRPr lang="en-US" sz="2185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060"/>
              </a:lnSpc>
            </a:pPr>
            <a:r>
              <a:rPr lang="en-US" sz="218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Quality Scoring:</a:t>
            </a:r>
          </a:p>
          <a:p>
            <a:pPr marL="471948" lvl="1" indent="-235974" algn="l">
              <a:lnSpc>
                <a:spcPts val="3060"/>
              </a:lnSpc>
              <a:spcBef>
                <a:spcPct val="0"/>
              </a:spcBef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90-100: Excellent (Production-ready)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70-89: Good (Minor improvements)</a:t>
            </a:r>
          </a:p>
          <a:p>
            <a:pPr marL="471948" lvl="1" indent="-235974" algn="l">
              <a:lnSpc>
                <a:spcPts val="3060"/>
              </a:lnSpc>
              <a:buFont typeface="Arial"/>
              <a:buChar char="•"/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0-69: Needs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9928" y="1514158"/>
            <a:ext cx="9584432" cy="3941598"/>
          </a:xfrm>
          <a:custGeom>
            <a:avLst/>
            <a:gdLst/>
            <a:ahLst/>
            <a:cxnLst/>
            <a:rect l="l" t="t" r="r" b="b"/>
            <a:pathLst>
              <a:path w="9584432" h="3941598">
                <a:moveTo>
                  <a:pt x="0" y="0"/>
                </a:moveTo>
                <a:lnTo>
                  <a:pt x="9584431" y="0"/>
                </a:lnTo>
                <a:lnTo>
                  <a:pt x="9584431" y="3941597"/>
                </a:lnTo>
                <a:lnTo>
                  <a:pt x="0" y="3941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69928" y="5509207"/>
            <a:ext cx="5076792" cy="4006550"/>
          </a:xfrm>
          <a:custGeom>
            <a:avLst/>
            <a:gdLst/>
            <a:ahLst/>
            <a:cxnLst/>
            <a:rect l="l" t="t" r="r" b="b"/>
            <a:pathLst>
              <a:path w="5076792" h="4006550">
                <a:moveTo>
                  <a:pt x="0" y="0"/>
                </a:moveTo>
                <a:lnTo>
                  <a:pt x="5076792" y="0"/>
                </a:lnTo>
                <a:lnTo>
                  <a:pt x="5076792" y="4006550"/>
                </a:lnTo>
                <a:lnTo>
                  <a:pt x="0" y="4006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96116" y="6159317"/>
            <a:ext cx="4258244" cy="3356440"/>
          </a:xfrm>
          <a:custGeom>
            <a:avLst/>
            <a:gdLst/>
            <a:ahLst/>
            <a:cxnLst/>
            <a:rect l="l" t="t" r="r" b="b"/>
            <a:pathLst>
              <a:path w="4258244" h="3356440">
                <a:moveTo>
                  <a:pt x="0" y="0"/>
                </a:moveTo>
                <a:lnTo>
                  <a:pt x="4258243" y="0"/>
                </a:lnTo>
                <a:lnTo>
                  <a:pt x="4258243" y="3356440"/>
                </a:lnTo>
                <a:lnTo>
                  <a:pt x="0" y="33564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8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847725"/>
            <a:ext cx="5062543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CASE STUDY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4407" y="2312072"/>
            <a:ext cx="7717313" cy="720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58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1: Upload Python File</a:t>
            </a:r>
          </a:p>
          <a:p>
            <a:pPr marL="557621" lvl="1" indent="-278811" algn="l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uploads .py file</a:t>
            </a:r>
          </a:p>
          <a:p>
            <a:pPr marL="557621" lvl="1" indent="-278811" algn="l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Selects docstring style (Google/NumPy/reST)</a:t>
            </a:r>
          </a:p>
          <a:p>
            <a:pPr marL="557621" lvl="1" indent="-278811" algn="l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System analyzes code</a:t>
            </a:r>
          </a:p>
          <a:p>
            <a:pPr algn="l">
              <a:lnSpc>
                <a:spcPts val="3615"/>
              </a:lnSpc>
            </a:pPr>
            <a:endParaRPr lang="en-US" sz="258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15"/>
              </a:lnSpc>
            </a:pPr>
            <a:r>
              <a:rPr lang="en-US" sz="258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2: Review Generated Docstrings</a:t>
            </a:r>
          </a:p>
          <a:p>
            <a:pPr marL="557621" lvl="1" indent="-278811" algn="l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View all generated docstrings</a:t>
            </a:r>
          </a:p>
          <a:p>
            <a:pPr marL="557621" lvl="1" indent="-278811" algn="l">
              <a:lnSpc>
                <a:spcPts val="3615"/>
              </a:lnSpc>
              <a:spcBef>
                <a:spcPct val="0"/>
              </a:spcBef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See validation scores (100/100)</a:t>
            </a:r>
          </a:p>
          <a:p>
            <a:pPr marL="557621" lvl="1" indent="-278811" algn="l">
              <a:lnSpc>
                <a:spcPts val="3615"/>
              </a:lnSpc>
              <a:spcBef>
                <a:spcPct val="0"/>
              </a:spcBef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 warnings (if any)</a:t>
            </a:r>
          </a:p>
          <a:p>
            <a:pPr marL="557621" lvl="1" indent="-278811" algn="l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Accept/reject individually</a:t>
            </a:r>
          </a:p>
          <a:p>
            <a:pPr algn="l">
              <a:lnSpc>
                <a:spcPts val="3615"/>
              </a:lnSpc>
            </a:pPr>
            <a:endParaRPr lang="en-US" sz="258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615"/>
              </a:lnSpc>
            </a:pPr>
            <a:r>
              <a:rPr lang="en-US" sz="258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Step 3: Download Enhanced Code</a:t>
            </a:r>
          </a:p>
          <a:p>
            <a:pPr marL="557621" lvl="1" indent="-278811" algn="l">
              <a:lnSpc>
                <a:spcPts val="3615"/>
              </a:lnSpc>
              <a:spcBef>
                <a:spcPct val="0"/>
              </a:spcBef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Get Python file with docstrings</a:t>
            </a:r>
          </a:p>
          <a:p>
            <a:pPr marL="557621" lvl="1" indent="-278811" algn="l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Includes inline comments</a:t>
            </a:r>
          </a:p>
          <a:p>
            <a:pPr marL="557621" lvl="1" indent="-278811" algn="l">
              <a:lnSpc>
                <a:spcPts val="3615"/>
              </a:lnSpc>
              <a:buFont typeface="Arial"/>
              <a:buChar char="•"/>
            </a:pPr>
            <a:r>
              <a: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Ready for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74407" y="2312072"/>
            <a:ext cx="16146268" cy="68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41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Demo Steps:</a:t>
            </a:r>
          </a:p>
          <a:p>
            <a:pPr marL="520851" lvl="1" indent="-260426" algn="l">
              <a:lnSpc>
                <a:spcPts val="3377"/>
              </a:lnSpc>
              <a:buAutoNum type="arabicPeriod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Open: </a:t>
            </a:r>
            <a:r>
              <a:rPr lang="en-US" sz="2412" u="sng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  <a:hlinkClick r:id="rId2" tooltip="https://megesh07-python-docstring-generator.streamlit.app"/>
              </a:rPr>
              <a:t>https://megesh07-python-docstring-generator.streamlit.app/</a:t>
            </a:r>
          </a:p>
          <a:p>
            <a:pPr marL="520851" lvl="1" indent="-260426" algn="l">
              <a:lnSpc>
                <a:spcPts val="3377"/>
              </a:lnSpc>
              <a:buAutoNum type="arabicPeriod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Upload </a:t>
            </a:r>
          </a:p>
          <a:p>
            <a:pPr marL="520851" lvl="1" indent="-260426" algn="l">
              <a:lnSpc>
                <a:spcPts val="3377"/>
              </a:lnSpc>
              <a:buAutoNum type="arabicPeriod"/>
            </a:pPr>
            <a:r>
              <a:rPr lang="en-US" sz="241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sample.py</a:t>
            </a:r>
          </a:p>
          <a:p>
            <a:pPr marL="520851" lvl="1" indent="-260426" algn="l">
              <a:lnSpc>
                <a:spcPts val="3377"/>
              </a:lnSpc>
              <a:buAutoNum type="arabicPeriod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 generated docstrings</a:t>
            </a:r>
          </a:p>
          <a:p>
            <a:pPr marL="520851" lvl="1" indent="-260426" algn="l">
              <a:lnSpc>
                <a:spcPts val="3377"/>
              </a:lnSpc>
              <a:buAutoNum type="arabicPeriod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Point out validation scores (100/100)</a:t>
            </a:r>
          </a:p>
          <a:p>
            <a:pPr marL="520851" lvl="1" indent="-260426" algn="l">
              <a:lnSpc>
                <a:spcPts val="3377"/>
              </a:lnSpc>
              <a:buAutoNum type="arabicPeriod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 error detection (9 issues found)</a:t>
            </a:r>
          </a:p>
          <a:p>
            <a:pPr marL="520851" lvl="1" indent="-260426" algn="l">
              <a:lnSpc>
                <a:spcPts val="3377"/>
              </a:lnSpc>
              <a:buAutoNum type="arabicPeriod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Accept docstrings</a:t>
            </a:r>
          </a:p>
          <a:p>
            <a:pPr marL="520851" lvl="1" indent="-260426" algn="l">
              <a:lnSpc>
                <a:spcPts val="3377"/>
              </a:lnSpc>
              <a:buAutoNum type="arabicPeriod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Preview enhanced code</a:t>
            </a:r>
          </a:p>
          <a:p>
            <a:pPr marL="520851" lvl="1" indent="-260426" algn="l">
              <a:lnSpc>
                <a:spcPts val="3377"/>
              </a:lnSpc>
              <a:buAutoNum type="arabicPeriod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Download file</a:t>
            </a:r>
          </a:p>
          <a:p>
            <a:pPr algn="l">
              <a:lnSpc>
                <a:spcPts val="3377"/>
              </a:lnSpc>
            </a:pPr>
            <a:endParaRPr lang="en-US" sz="241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377"/>
              </a:lnSpc>
            </a:pPr>
            <a:r>
              <a:rPr lang="en-US" sz="241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Points to Highlight:</a:t>
            </a:r>
          </a:p>
          <a:p>
            <a:pPr marL="520851" lvl="1" indent="-260426" algn="l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Instant generation</a:t>
            </a:r>
          </a:p>
          <a:p>
            <a:pPr marL="520851" lvl="1" indent="-260426" algn="l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Quality validation visible</a:t>
            </a:r>
          </a:p>
          <a:p>
            <a:pPr marL="520851" lvl="1" indent="-260426" algn="l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Multiple docstring styles</a:t>
            </a:r>
          </a:p>
          <a:p>
            <a:pPr marL="520851" lvl="1" indent="-260426" algn="l">
              <a:lnSpc>
                <a:spcPts val="3377"/>
              </a:lnSpc>
              <a:buFont typeface="Arial"/>
              <a:buChar char="•"/>
            </a:pPr>
            <a:r>
              <a:rPr lang="en-US" sz="241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Error detection working</a:t>
            </a:r>
          </a:p>
        </p:txBody>
      </p:sp>
      <p:sp>
        <p:nvSpPr>
          <p:cNvPr id="3" name="Freeform 3"/>
          <p:cNvSpPr/>
          <p:nvPr/>
        </p:nvSpPr>
        <p:spPr>
          <a:xfrm>
            <a:off x="8322138" y="3731003"/>
            <a:ext cx="8760858" cy="5782161"/>
          </a:xfrm>
          <a:custGeom>
            <a:avLst/>
            <a:gdLst/>
            <a:ahLst/>
            <a:cxnLst/>
            <a:rect l="l" t="t" r="r" b="b"/>
            <a:pathLst>
              <a:path w="8760858" h="5782161">
                <a:moveTo>
                  <a:pt x="0" y="0"/>
                </a:moveTo>
                <a:lnTo>
                  <a:pt x="8760858" y="0"/>
                </a:lnTo>
                <a:lnTo>
                  <a:pt x="8760858" y="5782161"/>
                </a:lnTo>
                <a:lnTo>
                  <a:pt x="0" y="5782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666" t="-6980" r="-1494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790575"/>
            <a:ext cx="11945352" cy="145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LIVE DEMONSTRATION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9036" y="2080937"/>
            <a:ext cx="5011833" cy="3017735"/>
          </a:xfrm>
          <a:custGeom>
            <a:avLst/>
            <a:gdLst/>
            <a:ahLst/>
            <a:cxnLst/>
            <a:rect l="l" t="t" r="r" b="b"/>
            <a:pathLst>
              <a:path w="5011833" h="3017735">
                <a:moveTo>
                  <a:pt x="0" y="0"/>
                </a:moveTo>
                <a:lnTo>
                  <a:pt x="5011833" y="0"/>
                </a:lnTo>
                <a:lnTo>
                  <a:pt x="5011833" y="3017735"/>
                </a:lnTo>
                <a:lnTo>
                  <a:pt x="0" y="30177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9036" y="5421160"/>
            <a:ext cx="5011833" cy="4267218"/>
          </a:xfrm>
          <a:custGeom>
            <a:avLst/>
            <a:gdLst/>
            <a:ahLst/>
            <a:cxnLst/>
            <a:rect l="l" t="t" r="r" b="b"/>
            <a:pathLst>
              <a:path w="5011833" h="4267218">
                <a:moveTo>
                  <a:pt x="0" y="0"/>
                </a:moveTo>
                <a:lnTo>
                  <a:pt x="5011833" y="0"/>
                </a:lnTo>
                <a:lnTo>
                  <a:pt x="5011833" y="4267218"/>
                </a:lnTo>
                <a:lnTo>
                  <a:pt x="0" y="4267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45310" y="2813042"/>
            <a:ext cx="10213990" cy="5216236"/>
          </a:xfrm>
          <a:custGeom>
            <a:avLst/>
            <a:gdLst/>
            <a:ahLst/>
            <a:cxnLst/>
            <a:rect l="l" t="t" r="r" b="b"/>
            <a:pathLst>
              <a:path w="10213990" h="5216236">
                <a:moveTo>
                  <a:pt x="0" y="0"/>
                </a:moveTo>
                <a:lnTo>
                  <a:pt x="10213990" y="0"/>
                </a:lnTo>
                <a:lnTo>
                  <a:pt x="10213990" y="5216236"/>
                </a:lnTo>
                <a:lnTo>
                  <a:pt x="0" y="5216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876300"/>
            <a:ext cx="12402900" cy="99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55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DOCSTRING STYLES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47725"/>
            <a:ext cx="8376289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TESTING &amp; RESULTS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328741"/>
            <a:ext cx="15847894" cy="5013604"/>
            <a:chOff x="0" y="-66675"/>
            <a:chExt cx="21130526" cy="6684805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10289750" cy="6684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15"/>
                </a:lnSpc>
              </a:pPr>
              <a:r>
                <a:rPr lang="en-US" sz="258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 Results: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12 functions/methods tested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All validation scores: 100/100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9 code issues detected correctly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PEP 257 compliance: 100%</a:t>
              </a:r>
            </a:p>
            <a:p>
              <a:pPr algn="l">
                <a:lnSpc>
                  <a:spcPts val="3615"/>
                </a:lnSpc>
              </a:pPr>
              <a:endParaRPr lang="en-US" sz="25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615"/>
                </a:lnSpc>
              </a:pPr>
              <a:r>
                <a:rPr lang="en-US" sz="258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Performance Metrics: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Generation Speed: Instant (&lt;1 second)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Validation: Real-time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Syntax Errors: 0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Import Errors: 0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40776" y="-66675"/>
              <a:ext cx="10289750" cy="61252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15"/>
                </a:lnSpc>
              </a:pPr>
              <a:r>
                <a:rPr lang="en-US" sz="2582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Deployment Status: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Live on </a:t>
              </a:r>
              <a:r>
                <a:rPr lang="en-US" sz="2582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Streamlit</a:t>
              </a:r>
              <a:r>
                <a:rPr lang="en-US" sz="2582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Cloud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GitHub repository complete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MIT License applied</a:t>
              </a:r>
            </a:p>
            <a:p>
              <a:pPr algn="l">
                <a:lnSpc>
                  <a:spcPts val="3615"/>
                </a:lnSpc>
              </a:pPr>
              <a:endParaRPr lang="en-US" sz="2582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615"/>
                </a:lnSpc>
              </a:pPr>
              <a:r>
                <a:rPr lang="en-US" sz="2582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Quality Assurance: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All modules compile successfully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All imports working</a:t>
              </a:r>
            </a:p>
            <a:p>
              <a:pPr marL="557621" lvl="1" indent="-278811" algn="l">
                <a:lnSpc>
                  <a:spcPts val="3615"/>
                </a:lnSpc>
                <a:buFont typeface="Arial"/>
                <a:buChar char="•"/>
              </a:pPr>
              <a:r>
                <a:rPr lang="en-US" sz="2582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Repository clean (no uncommitted changes)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0297" y="5182167"/>
            <a:ext cx="8159064" cy="4076133"/>
          </a:xfrm>
          <a:custGeom>
            <a:avLst/>
            <a:gdLst/>
            <a:ahLst/>
            <a:cxnLst/>
            <a:rect l="l" t="t" r="r" b="b"/>
            <a:pathLst>
              <a:path w="8159064" h="4076133">
                <a:moveTo>
                  <a:pt x="0" y="0"/>
                </a:moveTo>
                <a:lnTo>
                  <a:pt x="8159064" y="0"/>
                </a:lnTo>
                <a:lnTo>
                  <a:pt x="8159064" y="4076133"/>
                </a:lnTo>
                <a:lnTo>
                  <a:pt x="0" y="4076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47" r="-1825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345648" y="5182167"/>
            <a:ext cx="8012055" cy="4076133"/>
          </a:xfrm>
          <a:custGeom>
            <a:avLst/>
            <a:gdLst/>
            <a:ahLst/>
            <a:cxnLst/>
            <a:rect l="l" t="t" r="r" b="b"/>
            <a:pathLst>
              <a:path w="8012055" h="4076133">
                <a:moveTo>
                  <a:pt x="0" y="0"/>
                </a:moveTo>
                <a:lnTo>
                  <a:pt x="8012055" y="0"/>
                </a:lnTo>
                <a:lnTo>
                  <a:pt x="8012055" y="4076133"/>
                </a:lnTo>
                <a:lnTo>
                  <a:pt x="0" y="40761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47725"/>
            <a:ext cx="12647594" cy="115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 &amp; 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3700" y="2302547"/>
            <a:ext cx="15920599" cy="2110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97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Links:</a:t>
            </a:r>
          </a:p>
          <a:p>
            <a:pPr marL="642469" lvl="1" indent="-321234" algn="l">
              <a:lnSpc>
                <a:spcPts val="4166"/>
              </a:lnSpc>
              <a:buFont typeface="Arial"/>
              <a:buChar char="•"/>
            </a:pPr>
            <a:r>
              <a:rPr lang="en-US" sz="297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Live App:</a:t>
            </a: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75" u="sng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  <a:hlinkClick r:id="rId4" tooltip="https://megesh07-python-docstring-generator.streamlit.app"/>
              </a:rPr>
              <a:t>https://megesh07-python-docstring-generator.streamlit.app/</a:t>
            </a:r>
          </a:p>
          <a:p>
            <a:pPr marL="642469" lvl="1" indent="-321234" algn="l">
              <a:lnSpc>
                <a:spcPts val="4166"/>
              </a:lnSpc>
              <a:buFont typeface="Arial"/>
              <a:buChar char="•"/>
            </a:pPr>
            <a:r>
              <a:rPr lang="en-US" sz="297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GitHub:</a:t>
            </a:r>
            <a:r>
              <a:rPr lang="en-US" sz="2975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975" u="sng">
                <a:solidFill>
                  <a:srgbClr val="38B6FF"/>
                </a:solidFill>
                <a:latin typeface="Poppins"/>
                <a:ea typeface="Poppins"/>
                <a:cs typeface="Poppins"/>
                <a:sym typeface="Poppins"/>
                <a:hlinkClick r:id="rId5" tooltip="https://github.com/Megesh07/Megesh07-Python-Docstring-Generator"/>
              </a:rPr>
              <a:t>https://github.com/Megesh07/Megesh07-Python-Docstring-Generator</a:t>
            </a:r>
          </a:p>
          <a:p>
            <a:pPr marL="642469" lvl="1" indent="-321234" algn="l">
              <a:lnSpc>
                <a:spcPts val="4166"/>
              </a:lnSpc>
              <a:buFont typeface="Arial"/>
              <a:buChar char="•"/>
            </a:pPr>
            <a:r>
              <a:rPr lang="en-US" sz="297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License:</a:t>
            </a:r>
            <a:r>
              <a:rPr lang="en-US" sz="297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Microsoft Office PowerPoint</Application>
  <PresentationFormat>Custom</PresentationFormat>
  <Paragraphs>181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Poppins Bold</vt:lpstr>
      <vt:lpstr>Calibri</vt:lpstr>
      <vt:lpstr>Poppins</vt:lpstr>
      <vt:lpstr>Poppins Medium</vt:lpstr>
      <vt:lpstr>Poppins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Docstring Generator-Megeshwara S</dc:title>
  <cp:lastModifiedBy>Megeshwara S</cp:lastModifiedBy>
  <cp:revision>2</cp:revision>
  <dcterms:created xsi:type="dcterms:W3CDTF">2006-08-16T00:00:00Z</dcterms:created>
  <dcterms:modified xsi:type="dcterms:W3CDTF">2026-02-09T13:39:18Z</dcterms:modified>
  <dc:identifier>DAHAvfHFs38</dc:identifier>
</cp:coreProperties>
</file>